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kerolli" panose="020B0604020202020204" charset="-34"/>
      <p:regular r:id="rId13"/>
    </p:embeddedFont>
    <p:embeddedFont>
      <p:font typeface="Cakerolli Bold" panose="020B0604020202020204" charset="-34"/>
      <p:regular r:id="rId14"/>
    </p:embeddedFont>
    <p:embeddedFont>
      <p:font typeface="Roca Two" panose="020B0604020202020204" charset="0"/>
      <p:regular r:id="rId15"/>
    </p:embeddedFont>
    <p:embeddedFont>
      <p:font typeface="Roca Two Bold" panose="020B0604020202020204" charset="0"/>
      <p:regular r:id="rId16"/>
    </p:embeddedFont>
    <p:embeddedFont>
      <p:font typeface="Roca Two Heavy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21967" y="6023935"/>
            <a:ext cx="6475289" cy="4136091"/>
          </a:xfrm>
          <a:custGeom>
            <a:avLst/>
            <a:gdLst/>
            <a:ahLst/>
            <a:cxnLst/>
            <a:rect l="l" t="t" r="r" b="b"/>
            <a:pathLst>
              <a:path w="6475289" h="4136091">
                <a:moveTo>
                  <a:pt x="0" y="0"/>
                </a:moveTo>
                <a:lnTo>
                  <a:pt x="6475289" y="0"/>
                </a:lnTo>
                <a:lnTo>
                  <a:pt x="6475289" y="4136090"/>
                </a:lnTo>
                <a:lnTo>
                  <a:pt x="0" y="4136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167736" y="3756445"/>
            <a:ext cx="9966790" cy="199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7"/>
              </a:lnSpc>
            </a:pPr>
            <a:r>
              <a:rPr lang="en-US" sz="13426" b="1" spc="-402">
                <a:solidFill>
                  <a:srgbClr val="CC4E00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&amp; EROSION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90818" y="2235114"/>
            <a:ext cx="12720627" cy="2356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22"/>
              </a:lnSpc>
            </a:pPr>
            <a:r>
              <a:rPr lang="en-US" sz="13880" b="1" spc="-416">
                <a:solidFill>
                  <a:srgbClr val="CC4E00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WEATHERING</a:t>
            </a:r>
          </a:p>
        </p:txBody>
      </p:sp>
      <p:sp>
        <p:nvSpPr>
          <p:cNvPr id="5" name="Freeform 5"/>
          <p:cNvSpPr/>
          <p:nvPr/>
        </p:nvSpPr>
        <p:spPr>
          <a:xfrm>
            <a:off x="-338181" y="2121547"/>
            <a:ext cx="9973072" cy="8165453"/>
          </a:xfrm>
          <a:custGeom>
            <a:avLst/>
            <a:gdLst/>
            <a:ahLst/>
            <a:cxnLst/>
            <a:rect l="l" t="t" r="r" b="b"/>
            <a:pathLst>
              <a:path w="9973072" h="8165453">
                <a:moveTo>
                  <a:pt x="0" y="0"/>
                </a:moveTo>
                <a:lnTo>
                  <a:pt x="9973072" y="0"/>
                </a:lnTo>
                <a:lnTo>
                  <a:pt x="9973072" y="8165453"/>
                </a:lnTo>
                <a:lnTo>
                  <a:pt x="0" y="8165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151131" y="4469139"/>
            <a:ext cx="8136869" cy="5817861"/>
          </a:xfrm>
          <a:custGeom>
            <a:avLst/>
            <a:gdLst/>
            <a:ahLst/>
            <a:cxnLst/>
            <a:rect l="l" t="t" r="r" b="b"/>
            <a:pathLst>
              <a:path w="8136869" h="5817861">
                <a:moveTo>
                  <a:pt x="0" y="0"/>
                </a:moveTo>
                <a:lnTo>
                  <a:pt x="8136869" y="0"/>
                </a:lnTo>
                <a:lnTo>
                  <a:pt x="8136869" y="5817861"/>
                </a:lnTo>
                <a:lnTo>
                  <a:pt x="0" y="58178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97256" y="-337885"/>
            <a:ext cx="7600591" cy="3220751"/>
          </a:xfrm>
          <a:custGeom>
            <a:avLst/>
            <a:gdLst/>
            <a:ahLst/>
            <a:cxnLst/>
            <a:rect l="l" t="t" r="r" b="b"/>
            <a:pathLst>
              <a:path w="7600591" h="3220751">
                <a:moveTo>
                  <a:pt x="0" y="0"/>
                </a:moveTo>
                <a:lnTo>
                  <a:pt x="7600592" y="0"/>
                </a:lnTo>
                <a:lnTo>
                  <a:pt x="7600592" y="3220750"/>
                </a:lnTo>
                <a:lnTo>
                  <a:pt x="0" y="3220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58972" y="-234710"/>
            <a:ext cx="5962996" cy="2526819"/>
          </a:xfrm>
          <a:custGeom>
            <a:avLst/>
            <a:gdLst/>
            <a:ahLst/>
            <a:cxnLst/>
            <a:rect l="l" t="t" r="r" b="b"/>
            <a:pathLst>
              <a:path w="5962996" h="2526819">
                <a:moveTo>
                  <a:pt x="0" y="0"/>
                </a:moveTo>
                <a:lnTo>
                  <a:pt x="5962995" y="0"/>
                </a:lnTo>
                <a:lnTo>
                  <a:pt x="5962995" y="2526820"/>
                </a:lnTo>
                <a:lnTo>
                  <a:pt x="0" y="2526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983447" y="-1036243"/>
            <a:ext cx="7290531" cy="3089363"/>
          </a:xfrm>
          <a:custGeom>
            <a:avLst/>
            <a:gdLst/>
            <a:ahLst/>
            <a:cxnLst/>
            <a:rect l="l" t="t" r="r" b="b"/>
            <a:pathLst>
              <a:path w="7290531" h="3089363">
                <a:moveTo>
                  <a:pt x="0" y="0"/>
                </a:moveTo>
                <a:lnTo>
                  <a:pt x="7290532" y="0"/>
                </a:lnTo>
                <a:lnTo>
                  <a:pt x="7290532" y="3089362"/>
                </a:lnTo>
                <a:lnTo>
                  <a:pt x="0" y="3089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138979" y="5104491"/>
            <a:ext cx="12561582" cy="238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7"/>
              </a:lnSpc>
            </a:pPr>
            <a:r>
              <a:rPr lang="en-US" sz="13426" b="1" spc="-402">
                <a:solidFill>
                  <a:srgbClr val="CC4E00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And Deposition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795" y="9943256"/>
            <a:ext cx="19094134" cy="2126684"/>
            <a:chOff x="0" y="0"/>
            <a:chExt cx="5028908" cy="56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8908" cy="560114"/>
            </a:xfrm>
            <a:custGeom>
              <a:avLst/>
              <a:gdLst/>
              <a:ahLst/>
              <a:cxnLst/>
              <a:rect l="l" t="t" r="r" b="b"/>
              <a:pathLst>
                <a:path w="5028908" h="560114">
                  <a:moveTo>
                    <a:pt x="0" y="0"/>
                  </a:moveTo>
                  <a:lnTo>
                    <a:pt x="5028908" y="0"/>
                  </a:lnTo>
                  <a:lnTo>
                    <a:pt x="5028908" y="560114"/>
                  </a:lnTo>
                  <a:lnTo>
                    <a:pt x="0" y="560114"/>
                  </a:lnTo>
                  <a:close/>
                </a:path>
              </a:pathLst>
            </a:custGeom>
            <a:solidFill>
              <a:srgbClr val="854C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28908" cy="598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-153409"/>
            <a:ext cx="7164731" cy="10440409"/>
          </a:xfrm>
          <a:custGeom>
            <a:avLst/>
            <a:gdLst/>
            <a:ahLst/>
            <a:cxnLst/>
            <a:rect l="l" t="t" r="r" b="b"/>
            <a:pathLst>
              <a:path w="7164731" h="10440409">
                <a:moveTo>
                  <a:pt x="0" y="0"/>
                </a:moveTo>
                <a:lnTo>
                  <a:pt x="7164731" y="0"/>
                </a:lnTo>
                <a:lnTo>
                  <a:pt x="7164731" y="10440409"/>
                </a:lnTo>
                <a:lnTo>
                  <a:pt x="0" y="10440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733922" y="2241978"/>
            <a:ext cx="8669762" cy="5803044"/>
            <a:chOff x="0" y="0"/>
            <a:chExt cx="11559682" cy="7737392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1559682" cy="7737392"/>
              <a:chOff x="0" y="0"/>
              <a:chExt cx="2283394" cy="152837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3394" cy="1528374"/>
              </a:xfrm>
              <a:custGeom>
                <a:avLst/>
                <a:gdLst/>
                <a:ahLst/>
                <a:cxnLst/>
                <a:rect l="l" t="t" r="r" b="b"/>
                <a:pathLst>
                  <a:path w="2283394" h="1528374">
                    <a:moveTo>
                      <a:pt x="45542" y="0"/>
                    </a:moveTo>
                    <a:lnTo>
                      <a:pt x="2237852" y="0"/>
                    </a:lnTo>
                    <a:cubicBezTo>
                      <a:pt x="2263004" y="0"/>
                      <a:pt x="2283394" y="20390"/>
                      <a:pt x="2283394" y="45542"/>
                    </a:cubicBezTo>
                    <a:lnTo>
                      <a:pt x="2283394" y="1482832"/>
                    </a:lnTo>
                    <a:cubicBezTo>
                      <a:pt x="2283394" y="1507984"/>
                      <a:pt x="2263004" y="1528374"/>
                      <a:pt x="2237852" y="1528374"/>
                    </a:cubicBezTo>
                    <a:lnTo>
                      <a:pt x="45542" y="1528374"/>
                    </a:lnTo>
                    <a:cubicBezTo>
                      <a:pt x="20390" y="1528374"/>
                      <a:pt x="0" y="1507984"/>
                      <a:pt x="0" y="1482832"/>
                    </a:cubicBezTo>
                    <a:lnTo>
                      <a:pt x="0" y="45542"/>
                    </a:lnTo>
                    <a:cubicBezTo>
                      <a:pt x="0" y="20390"/>
                      <a:pt x="20390" y="0"/>
                      <a:pt x="45542" y="0"/>
                    </a:cubicBezTo>
                    <a:close/>
                  </a:path>
                </a:pathLst>
              </a:custGeom>
              <a:solidFill>
                <a:srgbClr val="CC4E0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283394" cy="1566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23378" y="315439"/>
              <a:ext cx="10939950" cy="6809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2448" lvl="1" indent="-376224" algn="l">
                <a:lnSpc>
                  <a:spcPts val="4879"/>
                </a:lnSpc>
                <a:buFont typeface="Arial"/>
                <a:buChar char="•"/>
              </a:pPr>
              <a:r>
                <a:rPr lang="en-US" sz="3485" b="1">
                  <a:solidFill>
                    <a:srgbClr val="FFFFFF"/>
                  </a:solidFill>
                  <a:latin typeface="Cakerolli Bold"/>
                  <a:ea typeface="Cakerolli Bold"/>
                  <a:cs typeface="Cakerolli Bold"/>
                  <a:sym typeface="Cakerolli Bold"/>
                </a:rPr>
                <a:t>Weathering</a:t>
              </a:r>
              <a:r>
                <a:rPr lang="en-US" sz="3485">
                  <a:solidFill>
                    <a:srgbClr val="FFFFFF"/>
                  </a:solidFill>
                  <a:latin typeface="Cakerolli"/>
                  <a:ea typeface="Cakerolli"/>
                  <a:cs typeface="Cakerolli"/>
                  <a:sym typeface="Cakerolli"/>
                </a:rPr>
                <a:t>: The breakdown of rocks in place (materials stay where they are). </a:t>
              </a:r>
            </a:p>
            <a:p>
              <a:pPr marL="752448" lvl="1" indent="-376224" algn="l">
                <a:lnSpc>
                  <a:spcPts val="4879"/>
                </a:lnSpc>
                <a:buFont typeface="Arial"/>
                <a:buChar char="•"/>
              </a:pPr>
              <a:r>
                <a:rPr lang="en-US" sz="3485" b="1">
                  <a:solidFill>
                    <a:srgbClr val="FFFFFF"/>
                  </a:solidFill>
                  <a:latin typeface="Cakerolli Bold"/>
                  <a:ea typeface="Cakerolli Bold"/>
                  <a:cs typeface="Cakerolli Bold"/>
                  <a:sym typeface="Cakerolli Bold"/>
                </a:rPr>
                <a:t>Erosion</a:t>
              </a:r>
              <a:r>
                <a:rPr lang="en-US" sz="3485">
                  <a:solidFill>
                    <a:srgbClr val="FFFFFF"/>
                  </a:solidFill>
                  <a:latin typeface="Cakerolli"/>
                  <a:ea typeface="Cakerolli"/>
                  <a:cs typeface="Cakerolli"/>
                  <a:sym typeface="Cakerolli"/>
                </a:rPr>
                <a:t>: The movement of broken rocks and soil from one place to another. </a:t>
              </a:r>
            </a:p>
            <a:p>
              <a:pPr marL="752448" lvl="1" indent="-376224" algn="l">
                <a:lnSpc>
                  <a:spcPts val="4879"/>
                </a:lnSpc>
                <a:buFont typeface="Arial"/>
                <a:buChar char="•"/>
              </a:pPr>
              <a:r>
                <a:rPr lang="en-US" sz="3485" b="1">
                  <a:solidFill>
                    <a:srgbClr val="FFFFFF"/>
                  </a:solidFill>
                  <a:latin typeface="Cakerolli Bold"/>
                  <a:ea typeface="Cakerolli Bold"/>
                  <a:cs typeface="Cakerolli Bold"/>
                  <a:sym typeface="Cakerolli Bold"/>
                </a:rPr>
                <a:t>Deposition</a:t>
              </a:r>
              <a:r>
                <a:rPr lang="en-US" sz="3485">
                  <a:solidFill>
                    <a:srgbClr val="FFFFFF"/>
                  </a:solidFill>
                  <a:latin typeface="Cakerolli"/>
                  <a:ea typeface="Cakerolli"/>
                  <a:cs typeface="Cakerolli"/>
                  <a:sym typeface="Cakerolli"/>
                </a:rPr>
                <a:t>: The dropping or settling of eroded materials in a new location to build landforms.</a:t>
              </a:r>
            </a:p>
            <a:p>
              <a:pPr algn="l">
                <a:lnSpc>
                  <a:spcPts val="4879"/>
                </a:lnSpc>
              </a:pPr>
              <a:endParaRPr lang="en-US" sz="3485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32698" y="209550"/>
            <a:ext cx="15272209" cy="201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2"/>
              </a:lnSpc>
            </a:pPr>
            <a:r>
              <a:rPr lang="en-US" sz="8238" spc="-247">
                <a:solidFill>
                  <a:srgbClr val="CC4E00"/>
                </a:solidFill>
                <a:latin typeface="Roca Two"/>
                <a:ea typeface="Roca Two"/>
                <a:cs typeface="Roca Two"/>
                <a:sym typeface="Roca Two"/>
              </a:rPr>
              <a:t> OVERVIEW OF EARTH'S SURFACE PROCESSES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9392480"/>
            <a:ext cx="19094134" cy="2126684"/>
            <a:chOff x="0" y="0"/>
            <a:chExt cx="5028908" cy="56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8908" cy="560114"/>
            </a:xfrm>
            <a:custGeom>
              <a:avLst/>
              <a:gdLst/>
              <a:ahLst/>
              <a:cxnLst/>
              <a:rect l="l" t="t" r="r" b="b"/>
              <a:pathLst>
                <a:path w="5028908" h="560114">
                  <a:moveTo>
                    <a:pt x="0" y="0"/>
                  </a:moveTo>
                  <a:lnTo>
                    <a:pt x="5028908" y="0"/>
                  </a:lnTo>
                  <a:lnTo>
                    <a:pt x="5028908" y="560114"/>
                  </a:lnTo>
                  <a:lnTo>
                    <a:pt x="0" y="560114"/>
                  </a:lnTo>
                  <a:close/>
                </a:path>
              </a:pathLst>
            </a:custGeom>
            <a:solidFill>
              <a:srgbClr val="854C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28908" cy="598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550615" y="6279849"/>
            <a:ext cx="6915054" cy="4944264"/>
          </a:xfrm>
          <a:custGeom>
            <a:avLst/>
            <a:gdLst/>
            <a:ahLst/>
            <a:cxnLst/>
            <a:rect l="l" t="t" r="r" b="b"/>
            <a:pathLst>
              <a:path w="6915054" h="4944264">
                <a:moveTo>
                  <a:pt x="0" y="0"/>
                </a:moveTo>
                <a:lnTo>
                  <a:pt x="6915055" y="0"/>
                </a:lnTo>
                <a:lnTo>
                  <a:pt x="6915055" y="4944264"/>
                </a:lnTo>
                <a:lnTo>
                  <a:pt x="0" y="4944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24369" y="6472327"/>
            <a:ext cx="5363893" cy="4559309"/>
          </a:xfrm>
          <a:custGeom>
            <a:avLst/>
            <a:gdLst/>
            <a:ahLst/>
            <a:cxnLst/>
            <a:rect l="l" t="t" r="r" b="b"/>
            <a:pathLst>
              <a:path w="5363893" h="4559309">
                <a:moveTo>
                  <a:pt x="0" y="0"/>
                </a:moveTo>
                <a:lnTo>
                  <a:pt x="5363894" y="0"/>
                </a:lnTo>
                <a:lnTo>
                  <a:pt x="5363894" y="4559309"/>
                </a:lnTo>
                <a:lnTo>
                  <a:pt x="0" y="45593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98012" y="1815315"/>
            <a:ext cx="11811905" cy="104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2"/>
              </a:lnSpc>
            </a:pPr>
            <a:r>
              <a:rPr lang="en-US" sz="8238" spc="-247">
                <a:solidFill>
                  <a:srgbClr val="CC4E00"/>
                </a:solidFill>
                <a:latin typeface="Roca Two"/>
                <a:ea typeface="Roca Two"/>
                <a:cs typeface="Roca Two"/>
                <a:sym typeface="Roca Two"/>
              </a:rPr>
              <a:t>TYPES OF WEATHERING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38567" y="3271933"/>
            <a:ext cx="7001914" cy="6816257"/>
            <a:chOff x="0" y="0"/>
            <a:chExt cx="9335886" cy="9088343"/>
          </a:xfrm>
        </p:grpSpPr>
        <p:grpSp>
          <p:nvGrpSpPr>
            <p:cNvPr id="9" name="Group 9"/>
            <p:cNvGrpSpPr/>
            <p:nvPr/>
          </p:nvGrpSpPr>
          <p:grpSpPr>
            <a:xfrm>
              <a:off x="981718" y="1529826"/>
              <a:ext cx="7308744" cy="7558517"/>
              <a:chOff x="0" y="0"/>
              <a:chExt cx="1618473" cy="167378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618473" cy="1673784"/>
              </a:xfrm>
              <a:custGeom>
                <a:avLst/>
                <a:gdLst/>
                <a:ahLst/>
                <a:cxnLst/>
                <a:rect l="l" t="t" r="r" b="b"/>
                <a:pathLst>
                  <a:path w="1618473" h="1673784">
                    <a:moveTo>
                      <a:pt x="72030" y="0"/>
                    </a:moveTo>
                    <a:lnTo>
                      <a:pt x="1546443" y="0"/>
                    </a:lnTo>
                    <a:cubicBezTo>
                      <a:pt x="1586224" y="0"/>
                      <a:pt x="1618473" y="32249"/>
                      <a:pt x="1618473" y="72030"/>
                    </a:cubicBezTo>
                    <a:lnTo>
                      <a:pt x="1618473" y="1601754"/>
                    </a:lnTo>
                    <a:cubicBezTo>
                      <a:pt x="1618473" y="1620857"/>
                      <a:pt x="1610885" y="1639178"/>
                      <a:pt x="1597376" y="1652687"/>
                    </a:cubicBezTo>
                    <a:cubicBezTo>
                      <a:pt x="1583868" y="1666195"/>
                      <a:pt x="1565547" y="1673784"/>
                      <a:pt x="1546443" y="1673784"/>
                    </a:cubicBezTo>
                    <a:lnTo>
                      <a:pt x="72030" y="1673784"/>
                    </a:lnTo>
                    <a:cubicBezTo>
                      <a:pt x="32249" y="1673784"/>
                      <a:pt x="0" y="1641535"/>
                      <a:pt x="0" y="1601754"/>
                    </a:cubicBezTo>
                    <a:lnTo>
                      <a:pt x="0" y="72030"/>
                    </a:lnTo>
                    <a:cubicBezTo>
                      <a:pt x="0" y="32249"/>
                      <a:pt x="32249" y="0"/>
                      <a:pt x="72030" y="0"/>
                    </a:cubicBezTo>
                    <a:close/>
                  </a:path>
                </a:pathLst>
              </a:custGeom>
              <a:solidFill>
                <a:srgbClr val="CC4E0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618473" cy="17118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0" y="123825"/>
              <a:ext cx="9335886" cy="853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4816" spc="-144">
                  <a:solidFill>
                    <a:srgbClr val="FFFFFF"/>
                  </a:solidFill>
                  <a:latin typeface="Roca Two"/>
                  <a:ea typeface="Roca Two"/>
                  <a:cs typeface="Roca Two"/>
                  <a:sym typeface="Roca Two"/>
                </a:rPr>
                <a:t>Mechanical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31221" y="1723439"/>
              <a:ext cx="7031442" cy="53461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52"/>
                </a:lnSpc>
              </a:pPr>
              <a:r>
                <a:rPr lang="en-US" sz="3108">
                  <a:solidFill>
                    <a:srgbClr val="FFFFFF"/>
                  </a:solidFill>
                  <a:latin typeface="Cakerolli"/>
                  <a:ea typeface="Cakerolli"/>
                  <a:cs typeface="Cakerolli"/>
                  <a:sym typeface="Cakerolli"/>
                </a:rPr>
                <a:t>Rock breaks into smaller pieces, but its chemical composition stays the same.</a:t>
              </a:r>
            </a:p>
            <a:p>
              <a:pPr algn="l">
                <a:lnSpc>
                  <a:spcPts val="4352"/>
                </a:lnSpc>
              </a:pPr>
              <a:endParaRPr lang="en-US" sz="3108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endParaRPr>
            </a:p>
            <a:p>
              <a:pPr algn="l">
                <a:lnSpc>
                  <a:spcPts val="4352"/>
                </a:lnSpc>
              </a:pPr>
              <a:r>
                <a:rPr lang="en-US" sz="3108">
                  <a:solidFill>
                    <a:srgbClr val="FFFFFF"/>
                  </a:solidFill>
                  <a:latin typeface="Cakerolli"/>
                  <a:ea typeface="Cakerolli"/>
                  <a:cs typeface="Cakerolli"/>
                  <a:sym typeface="Cakerolli"/>
                </a:rPr>
                <a:t>Example: water freezes in a crack and expands.</a:t>
              </a:r>
            </a:p>
            <a:p>
              <a:pPr algn="l">
                <a:lnSpc>
                  <a:spcPts val="4352"/>
                </a:lnSpc>
              </a:pPr>
              <a:endParaRPr lang="en-US" sz="3108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241931" y="3271933"/>
            <a:ext cx="7001914" cy="6816257"/>
            <a:chOff x="0" y="0"/>
            <a:chExt cx="9335886" cy="9088343"/>
          </a:xfrm>
        </p:grpSpPr>
        <p:grpSp>
          <p:nvGrpSpPr>
            <p:cNvPr id="15" name="Group 15"/>
            <p:cNvGrpSpPr/>
            <p:nvPr/>
          </p:nvGrpSpPr>
          <p:grpSpPr>
            <a:xfrm>
              <a:off x="981718" y="1529826"/>
              <a:ext cx="7308744" cy="7558517"/>
              <a:chOff x="0" y="0"/>
              <a:chExt cx="1618473" cy="167378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618473" cy="1673784"/>
              </a:xfrm>
              <a:custGeom>
                <a:avLst/>
                <a:gdLst/>
                <a:ahLst/>
                <a:cxnLst/>
                <a:rect l="l" t="t" r="r" b="b"/>
                <a:pathLst>
                  <a:path w="1618473" h="1673784">
                    <a:moveTo>
                      <a:pt x="72030" y="0"/>
                    </a:moveTo>
                    <a:lnTo>
                      <a:pt x="1546443" y="0"/>
                    </a:lnTo>
                    <a:cubicBezTo>
                      <a:pt x="1586224" y="0"/>
                      <a:pt x="1618473" y="32249"/>
                      <a:pt x="1618473" y="72030"/>
                    </a:cubicBezTo>
                    <a:lnTo>
                      <a:pt x="1618473" y="1601754"/>
                    </a:lnTo>
                    <a:cubicBezTo>
                      <a:pt x="1618473" y="1620857"/>
                      <a:pt x="1610885" y="1639178"/>
                      <a:pt x="1597376" y="1652687"/>
                    </a:cubicBezTo>
                    <a:cubicBezTo>
                      <a:pt x="1583868" y="1666195"/>
                      <a:pt x="1565547" y="1673784"/>
                      <a:pt x="1546443" y="1673784"/>
                    </a:cubicBezTo>
                    <a:lnTo>
                      <a:pt x="72030" y="1673784"/>
                    </a:lnTo>
                    <a:cubicBezTo>
                      <a:pt x="32249" y="1673784"/>
                      <a:pt x="0" y="1641535"/>
                      <a:pt x="0" y="1601754"/>
                    </a:cubicBezTo>
                    <a:lnTo>
                      <a:pt x="0" y="72030"/>
                    </a:lnTo>
                    <a:cubicBezTo>
                      <a:pt x="0" y="32249"/>
                      <a:pt x="32249" y="0"/>
                      <a:pt x="72030" y="0"/>
                    </a:cubicBezTo>
                    <a:close/>
                  </a:path>
                </a:pathLst>
              </a:custGeom>
              <a:solidFill>
                <a:srgbClr val="CC4E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618473" cy="17118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0" y="123825"/>
              <a:ext cx="9335886" cy="853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4816" spc="-144">
                  <a:solidFill>
                    <a:srgbClr val="FFFFFF"/>
                  </a:solidFill>
                  <a:latin typeface="Roca Two"/>
                  <a:ea typeface="Roca Two"/>
                  <a:cs typeface="Roca Two"/>
                  <a:sym typeface="Roca Two"/>
                </a:rPr>
                <a:t>Chemical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52222" y="1960542"/>
              <a:ext cx="7031442" cy="53461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52"/>
                </a:lnSpc>
              </a:pPr>
              <a:r>
                <a:rPr lang="en-US" sz="3108">
                  <a:solidFill>
                    <a:srgbClr val="FFFFFF"/>
                  </a:solidFill>
                  <a:latin typeface="Cakerolli"/>
                  <a:ea typeface="Cakerolli"/>
                  <a:cs typeface="Cakerolli"/>
                  <a:sym typeface="Cakerolli"/>
                </a:rPr>
                <a:t>Living things break or weaken rock.</a:t>
              </a:r>
            </a:p>
            <a:p>
              <a:pPr algn="l">
                <a:lnSpc>
                  <a:spcPts val="4352"/>
                </a:lnSpc>
              </a:pPr>
              <a:endParaRPr lang="en-US" sz="3108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endParaRPr>
            </a:p>
            <a:p>
              <a:pPr algn="l">
                <a:lnSpc>
                  <a:spcPts val="4352"/>
                </a:lnSpc>
              </a:pPr>
              <a:r>
                <a:rPr lang="en-US" sz="3108">
                  <a:solidFill>
                    <a:srgbClr val="FFFFFF"/>
                  </a:solidFill>
                  <a:latin typeface="Cakerolli"/>
                  <a:ea typeface="Cakerolli"/>
                  <a:cs typeface="Cakerolli"/>
                  <a:sym typeface="Cakerolli"/>
                </a:rPr>
                <a:t> Example: plant roots grow into cracks; lichens release acids.</a:t>
              </a:r>
            </a:p>
            <a:p>
              <a:pPr algn="l">
                <a:lnSpc>
                  <a:spcPts val="4352"/>
                </a:lnSpc>
              </a:pPr>
              <a:endParaRPr lang="en-US" sz="3108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10089625"/>
            <a:ext cx="19094134" cy="1429539"/>
            <a:chOff x="0" y="0"/>
            <a:chExt cx="5028908" cy="3765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8908" cy="376504"/>
            </a:xfrm>
            <a:custGeom>
              <a:avLst/>
              <a:gdLst/>
              <a:ahLst/>
              <a:cxnLst/>
              <a:rect l="l" t="t" r="r" b="b"/>
              <a:pathLst>
                <a:path w="5028908" h="376504">
                  <a:moveTo>
                    <a:pt x="0" y="0"/>
                  </a:moveTo>
                  <a:lnTo>
                    <a:pt x="5028908" y="0"/>
                  </a:lnTo>
                  <a:lnTo>
                    <a:pt x="5028908" y="376504"/>
                  </a:lnTo>
                  <a:lnTo>
                    <a:pt x="0" y="376504"/>
                  </a:lnTo>
                  <a:close/>
                </a:path>
              </a:pathLst>
            </a:custGeom>
            <a:solidFill>
              <a:srgbClr val="854C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28908" cy="414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5029" y="-2945857"/>
            <a:ext cx="19094134" cy="3198733"/>
            <a:chOff x="0" y="0"/>
            <a:chExt cx="5028908" cy="8424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28908" cy="842465"/>
            </a:xfrm>
            <a:custGeom>
              <a:avLst/>
              <a:gdLst/>
              <a:ahLst/>
              <a:cxnLst/>
              <a:rect l="l" t="t" r="r" b="b"/>
              <a:pathLst>
                <a:path w="5028908" h="842465">
                  <a:moveTo>
                    <a:pt x="0" y="0"/>
                  </a:moveTo>
                  <a:lnTo>
                    <a:pt x="5028908" y="0"/>
                  </a:lnTo>
                  <a:lnTo>
                    <a:pt x="5028908" y="842465"/>
                  </a:lnTo>
                  <a:lnTo>
                    <a:pt x="0" y="842465"/>
                  </a:lnTo>
                  <a:close/>
                </a:path>
              </a:pathLst>
            </a:custGeom>
            <a:solidFill>
              <a:srgbClr val="854C3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28908" cy="880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260456"/>
            <a:ext cx="16763310" cy="7825739"/>
            <a:chOff x="0" y="0"/>
            <a:chExt cx="3733652" cy="17430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33652" cy="1743008"/>
            </a:xfrm>
            <a:custGeom>
              <a:avLst/>
              <a:gdLst/>
              <a:ahLst/>
              <a:cxnLst/>
              <a:rect l="l" t="t" r="r" b="b"/>
              <a:pathLst>
                <a:path w="3733652" h="1743008">
                  <a:moveTo>
                    <a:pt x="23554" y="0"/>
                  </a:moveTo>
                  <a:lnTo>
                    <a:pt x="3710099" y="0"/>
                  </a:lnTo>
                  <a:cubicBezTo>
                    <a:pt x="3723107" y="0"/>
                    <a:pt x="3733652" y="10545"/>
                    <a:pt x="3733652" y="23554"/>
                  </a:cubicBezTo>
                  <a:lnTo>
                    <a:pt x="3733652" y="1719455"/>
                  </a:lnTo>
                  <a:cubicBezTo>
                    <a:pt x="3733652" y="1725701"/>
                    <a:pt x="3731171" y="1731692"/>
                    <a:pt x="3726754" y="1736109"/>
                  </a:cubicBezTo>
                  <a:cubicBezTo>
                    <a:pt x="3722336" y="1740527"/>
                    <a:pt x="3716346" y="1743008"/>
                    <a:pt x="3710099" y="1743008"/>
                  </a:cubicBezTo>
                  <a:lnTo>
                    <a:pt x="23554" y="1743008"/>
                  </a:lnTo>
                  <a:cubicBezTo>
                    <a:pt x="10545" y="1743008"/>
                    <a:pt x="0" y="1732463"/>
                    <a:pt x="0" y="1719455"/>
                  </a:cubicBezTo>
                  <a:lnTo>
                    <a:pt x="0" y="23554"/>
                  </a:lnTo>
                  <a:cubicBezTo>
                    <a:pt x="0" y="10545"/>
                    <a:pt x="10545" y="0"/>
                    <a:pt x="23554" y="0"/>
                  </a:cubicBezTo>
                  <a:close/>
                </a:path>
              </a:pathLst>
            </a:custGeom>
            <a:solidFill>
              <a:srgbClr val="CC4E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733652" cy="1781108"/>
            </a:xfrm>
            <a:prstGeom prst="rect">
              <a:avLst/>
            </a:prstGeom>
          </p:spPr>
          <p:txBody>
            <a:bodyPr lIns="67343" tIns="67343" rIns="67343" bIns="67343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882034" y="1179141"/>
            <a:ext cx="7552615" cy="101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9767" lvl="1" indent="-444884" algn="l">
              <a:lnSpc>
                <a:spcPts val="5769"/>
              </a:lnSpc>
              <a:buAutoNum type="arabicPeriod"/>
            </a:pPr>
            <a:r>
              <a:rPr lang="en-US" sz="412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Frost Wedging (Ice wedging)</a:t>
            </a:r>
          </a:p>
        </p:txBody>
      </p:sp>
      <p:sp>
        <p:nvSpPr>
          <p:cNvPr id="12" name="Freeform 12"/>
          <p:cNvSpPr/>
          <p:nvPr/>
        </p:nvSpPr>
        <p:spPr>
          <a:xfrm>
            <a:off x="1750595" y="1536681"/>
            <a:ext cx="4400256" cy="3655421"/>
          </a:xfrm>
          <a:custGeom>
            <a:avLst/>
            <a:gdLst/>
            <a:ahLst/>
            <a:cxnLst/>
            <a:rect l="l" t="t" r="r" b="b"/>
            <a:pathLst>
              <a:path w="4400256" h="3655421">
                <a:moveTo>
                  <a:pt x="0" y="0"/>
                </a:moveTo>
                <a:lnTo>
                  <a:pt x="4400256" y="0"/>
                </a:lnTo>
                <a:lnTo>
                  <a:pt x="4400256" y="3655421"/>
                </a:lnTo>
                <a:lnTo>
                  <a:pt x="0" y="3655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508279" y="651070"/>
            <a:ext cx="10430914" cy="60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4816" spc="-144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Mechanical Weathering Processes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43696" y="1933726"/>
            <a:ext cx="9901392" cy="245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69"/>
              </a:lnSpc>
            </a:pPr>
            <a:r>
              <a:rPr lang="en-US" sz="412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Water enters cracks in rocks, freezes, expands, and gradually widens the cracks until pieces break off.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63507" y="5468327"/>
            <a:ext cx="4774431" cy="3166260"/>
          </a:xfrm>
          <a:custGeom>
            <a:avLst/>
            <a:gdLst/>
            <a:ahLst/>
            <a:cxnLst/>
            <a:rect l="l" t="t" r="r" b="b"/>
            <a:pathLst>
              <a:path w="4774431" h="3166260">
                <a:moveTo>
                  <a:pt x="0" y="0"/>
                </a:moveTo>
                <a:lnTo>
                  <a:pt x="4774431" y="0"/>
                </a:lnTo>
                <a:lnTo>
                  <a:pt x="4774431" y="3166260"/>
                </a:lnTo>
                <a:lnTo>
                  <a:pt x="0" y="3166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525026" y="6177041"/>
            <a:ext cx="9901392" cy="245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69"/>
              </a:lnSpc>
            </a:pPr>
            <a:r>
              <a:rPr lang="en-US" sz="412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Water enters cracks in rocks, freezes, expands, and gradually widens the cracks until pieces break off.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82034" y="5175472"/>
            <a:ext cx="7552615" cy="101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9767" lvl="1" indent="-444884" algn="l">
              <a:lnSpc>
                <a:spcPts val="5769"/>
              </a:lnSpc>
              <a:buAutoNum type="arabicPeriod"/>
            </a:pPr>
            <a:r>
              <a:rPr lang="en-US" sz="412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Root wedging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10089625"/>
            <a:ext cx="19094134" cy="1429539"/>
            <a:chOff x="0" y="0"/>
            <a:chExt cx="5028908" cy="3765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8908" cy="376504"/>
            </a:xfrm>
            <a:custGeom>
              <a:avLst/>
              <a:gdLst/>
              <a:ahLst/>
              <a:cxnLst/>
              <a:rect l="l" t="t" r="r" b="b"/>
              <a:pathLst>
                <a:path w="5028908" h="376504">
                  <a:moveTo>
                    <a:pt x="0" y="0"/>
                  </a:moveTo>
                  <a:lnTo>
                    <a:pt x="5028908" y="0"/>
                  </a:lnTo>
                  <a:lnTo>
                    <a:pt x="5028908" y="376504"/>
                  </a:lnTo>
                  <a:lnTo>
                    <a:pt x="0" y="376504"/>
                  </a:lnTo>
                  <a:close/>
                </a:path>
              </a:pathLst>
            </a:custGeom>
            <a:solidFill>
              <a:srgbClr val="854C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28908" cy="414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5029" y="-2945857"/>
            <a:ext cx="19094134" cy="3198733"/>
            <a:chOff x="0" y="0"/>
            <a:chExt cx="5028908" cy="8424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28908" cy="842465"/>
            </a:xfrm>
            <a:custGeom>
              <a:avLst/>
              <a:gdLst/>
              <a:ahLst/>
              <a:cxnLst/>
              <a:rect l="l" t="t" r="r" b="b"/>
              <a:pathLst>
                <a:path w="5028908" h="842465">
                  <a:moveTo>
                    <a:pt x="0" y="0"/>
                  </a:moveTo>
                  <a:lnTo>
                    <a:pt x="5028908" y="0"/>
                  </a:lnTo>
                  <a:lnTo>
                    <a:pt x="5028908" y="842465"/>
                  </a:lnTo>
                  <a:lnTo>
                    <a:pt x="0" y="842465"/>
                  </a:lnTo>
                  <a:close/>
                </a:path>
              </a:pathLst>
            </a:custGeom>
            <a:solidFill>
              <a:srgbClr val="854C3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28908" cy="880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20463" y="1028700"/>
            <a:ext cx="18306360" cy="9229335"/>
            <a:chOff x="0" y="0"/>
            <a:chExt cx="4077332" cy="20556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77332" cy="2055628"/>
            </a:xfrm>
            <a:custGeom>
              <a:avLst/>
              <a:gdLst/>
              <a:ahLst/>
              <a:cxnLst/>
              <a:rect l="l" t="t" r="r" b="b"/>
              <a:pathLst>
                <a:path w="4077332" h="2055628">
                  <a:moveTo>
                    <a:pt x="21568" y="0"/>
                  </a:moveTo>
                  <a:lnTo>
                    <a:pt x="4055764" y="0"/>
                  </a:lnTo>
                  <a:cubicBezTo>
                    <a:pt x="4067676" y="0"/>
                    <a:pt x="4077332" y="9656"/>
                    <a:pt x="4077332" y="21568"/>
                  </a:cubicBezTo>
                  <a:lnTo>
                    <a:pt x="4077332" y="2034060"/>
                  </a:lnTo>
                  <a:cubicBezTo>
                    <a:pt x="4077332" y="2045971"/>
                    <a:pt x="4067676" y="2055628"/>
                    <a:pt x="4055764" y="2055628"/>
                  </a:cubicBezTo>
                  <a:lnTo>
                    <a:pt x="21568" y="2055628"/>
                  </a:lnTo>
                  <a:cubicBezTo>
                    <a:pt x="9656" y="2055628"/>
                    <a:pt x="0" y="2045971"/>
                    <a:pt x="0" y="2034060"/>
                  </a:cubicBezTo>
                  <a:lnTo>
                    <a:pt x="0" y="21568"/>
                  </a:lnTo>
                  <a:cubicBezTo>
                    <a:pt x="0" y="9656"/>
                    <a:pt x="9656" y="0"/>
                    <a:pt x="21568" y="0"/>
                  </a:cubicBezTo>
                  <a:close/>
                </a:path>
              </a:pathLst>
            </a:custGeom>
            <a:solidFill>
              <a:srgbClr val="CC4E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77332" cy="2093728"/>
            </a:xfrm>
            <a:prstGeom prst="rect">
              <a:avLst/>
            </a:prstGeom>
          </p:spPr>
          <p:txBody>
            <a:bodyPr lIns="67343" tIns="67343" rIns="67343" bIns="67343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49383" y="3296197"/>
            <a:ext cx="3153239" cy="4180063"/>
          </a:xfrm>
          <a:custGeom>
            <a:avLst/>
            <a:gdLst/>
            <a:ahLst/>
            <a:cxnLst/>
            <a:rect l="l" t="t" r="r" b="b"/>
            <a:pathLst>
              <a:path w="3153239" h="4180063">
                <a:moveTo>
                  <a:pt x="0" y="0"/>
                </a:moveTo>
                <a:lnTo>
                  <a:pt x="3153239" y="0"/>
                </a:lnTo>
                <a:lnTo>
                  <a:pt x="3153239" y="4180064"/>
                </a:lnTo>
                <a:lnTo>
                  <a:pt x="0" y="4180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66564" y="1867266"/>
            <a:ext cx="7552615" cy="101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9767" lvl="1" indent="-444884" algn="l">
              <a:lnSpc>
                <a:spcPts val="5769"/>
              </a:lnSpc>
              <a:buAutoNum type="arabicPeriod"/>
            </a:pPr>
            <a:r>
              <a:rPr lang="en-US" sz="412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Abrassion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62622" y="513880"/>
            <a:ext cx="7001914" cy="609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4816" spc="-144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Mechanical Weathering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88134" y="2928682"/>
            <a:ext cx="9901392" cy="245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69"/>
              </a:lnSpc>
            </a:pPr>
            <a:r>
              <a:rPr lang="en-US" sz="412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 Wind, rivers, glaciers, and waves scrape and round rock surfaces through continuous collisions. </a:t>
            </a:r>
          </a:p>
        </p:txBody>
      </p:sp>
      <p:sp>
        <p:nvSpPr>
          <p:cNvPr id="15" name="Freeform 15"/>
          <p:cNvSpPr/>
          <p:nvPr/>
        </p:nvSpPr>
        <p:spPr>
          <a:xfrm>
            <a:off x="3688134" y="6324069"/>
            <a:ext cx="4710011" cy="3765556"/>
          </a:xfrm>
          <a:custGeom>
            <a:avLst/>
            <a:gdLst/>
            <a:ahLst/>
            <a:cxnLst/>
            <a:rect l="l" t="t" r="r" b="b"/>
            <a:pathLst>
              <a:path w="4710011" h="3765556">
                <a:moveTo>
                  <a:pt x="0" y="0"/>
                </a:moveTo>
                <a:lnTo>
                  <a:pt x="4710011" y="0"/>
                </a:lnTo>
                <a:lnTo>
                  <a:pt x="4710011" y="3765556"/>
                </a:lnTo>
                <a:lnTo>
                  <a:pt x="0" y="37655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219178" y="6458061"/>
            <a:ext cx="7552615" cy="101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9767" lvl="1" indent="-444884" algn="l">
              <a:lnSpc>
                <a:spcPts val="5769"/>
              </a:lnSpc>
              <a:buAutoNum type="arabicPeriod"/>
            </a:pPr>
            <a:r>
              <a:rPr lang="en-US" sz="412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Thermal Expansion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38830" y="7524653"/>
            <a:ext cx="8620470" cy="173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69"/>
              </a:lnSpc>
            </a:pPr>
            <a:r>
              <a:rPr lang="en-US" sz="412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Daily temperature cycles cause outer layers to expand and crack.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10089625"/>
            <a:ext cx="19094134" cy="1429539"/>
            <a:chOff x="0" y="0"/>
            <a:chExt cx="5028908" cy="3765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8908" cy="376504"/>
            </a:xfrm>
            <a:custGeom>
              <a:avLst/>
              <a:gdLst/>
              <a:ahLst/>
              <a:cxnLst/>
              <a:rect l="l" t="t" r="r" b="b"/>
              <a:pathLst>
                <a:path w="5028908" h="376504">
                  <a:moveTo>
                    <a:pt x="0" y="0"/>
                  </a:moveTo>
                  <a:lnTo>
                    <a:pt x="5028908" y="0"/>
                  </a:lnTo>
                  <a:lnTo>
                    <a:pt x="5028908" y="376504"/>
                  </a:lnTo>
                  <a:lnTo>
                    <a:pt x="0" y="376504"/>
                  </a:lnTo>
                  <a:close/>
                </a:path>
              </a:pathLst>
            </a:custGeom>
            <a:solidFill>
              <a:srgbClr val="854C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28908" cy="414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5029" y="-2945857"/>
            <a:ext cx="19094134" cy="3198733"/>
            <a:chOff x="0" y="0"/>
            <a:chExt cx="5028908" cy="8424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28908" cy="842465"/>
            </a:xfrm>
            <a:custGeom>
              <a:avLst/>
              <a:gdLst/>
              <a:ahLst/>
              <a:cxnLst/>
              <a:rect l="l" t="t" r="r" b="b"/>
              <a:pathLst>
                <a:path w="5028908" h="842465">
                  <a:moveTo>
                    <a:pt x="0" y="0"/>
                  </a:moveTo>
                  <a:lnTo>
                    <a:pt x="5028908" y="0"/>
                  </a:lnTo>
                  <a:lnTo>
                    <a:pt x="5028908" y="842465"/>
                  </a:lnTo>
                  <a:lnTo>
                    <a:pt x="0" y="842465"/>
                  </a:lnTo>
                  <a:close/>
                </a:path>
              </a:pathLst>
            </a:custGeom>
            <a:solidFill>
              <a:srgbClr val="854C3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28908" cy="880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20132" y="1260456"/>
            <a:ext cx="19014511" cy="8906228"/>
            <a:chOff x="0" y="0"/>
            <a:chExt cx="4235057" cy="19836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35057" cy="1983663"/>
            </a:xfrm>
            <a:custGeom>
              <a:avLst/>
              <a:gdLst/>
              <a:ahLst/>
              <a:cxnLst/>
              <a:rect l="l" t="t" r="r" b="b"/>
              <a:pathLst>
                <a:path w="4235057" h="1983663">
                  <a:moveTo>
                    <a:pt x="20765" y="0"/>
                  </a:moveTo>
                  <a:lnTo>
                    <a:pt x="4214292" y="0"/>
                  </a:lnTo>
                  <a:cubicBezTo>
                    <a:pt x="4219799" y="0"/>
                    <a:pt x="4225080" y="2188"/>
                    <a:pt x="4228975" y="6082"/>
                  </a:cubicBezTo>
                  <a:cubicBezTo>
                    <a:pt x="4232869" y="9976"/>
                    <a:pt x="4235057" y="15258"/>
                    <a:pt x="4235057" y="20765"/>
                  </a:cubicBezTo>
                  <a:lnTo>
                    <a:pt x="4235057" y="1962898"/>
                  </a:lnTo>
                  <a:cubicBezTo>
                    <a:pt x="4235057" y="1974366"/>
                    <a:pt x="4225760" y="1983663"/>
                    <a:pt x="4214292" y="1983663"/>
                  </a:cubicBezTo>
                  <a:lnTo>
                    <a:pt x="20765" y="1983663"/>
                  </a:lnTo>
                  <a:cubicBezTo>
                    <a:pt x="9297" y="1983663"/>
                    <a:pt x="0" y="1974366"/>
                    <a:pt x="0" y="1962898"/>
                  </a:cubicBezTo>
                  <a:lnTo>
                    <a:pt x="0" y="20765"/>
                  </a:lnTo>
                  <a:cubicBezTo>
                    <a:pt x="0" y="9297"/>
                    <a:pt x="9297" y="0"/>
                    <a:pt x="20765" y="0"/>
                  </a:cubicBezTo>
                  <a:close/>
                </a:path>
              </a:pathLst>
            </a:custGeom>
            <a:solidFill>
              <a:srgbClr val="CC4E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235057" cy="2021763"/>
            </a:xfrm>
            <a:prstGeom prst="rect">
              <a:avLst/>
            </a:prstGeom>
          </p:spPr>
          <p:txBody>
            <a:bodyPr lIns="67343" tIns="67343" rIns="67343" bIns="67343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64105" y="1551187"/>
            <a:ext cx="4773177" cy="3592313"/>
          </a:xfrm>
          <a:custGeom>
            <a:avLst/>
            <a:gdLst/>
            <a:ahLst/>
            <a:cxnLst/>
            <a:rect l="l" t="t" r="r" b="b"/>
            <a:pathLst>
              <a:path w="4773177" h="3592313">
                <a:moveTo>
                  <a:pt x="0" y="0"/>
                </a:moveTo>
                <a:lnTo>
                  <a:pt x="4773177" y="0"/>
                </a:lnTo>
                <a:lnTo>
                  <a:pt x="4773177" y="3592313"/>
                </a:lnTo>
                <a:lnTo>
                  <a:pt x="0" y="3592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032429" y="1780720"/>
            <a:ext cx="7552615" cy="101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9767" lvl="1" indent="-444884" algn="l">
              <a:lnSpc>
                <a:spcPts val="5769"/>
              </a:lnSpc>
              <a:buAutoNum type="arabicPeriod"/>
            </a:pPr>
            <a:r>
              <a:rPr lang="en-US" sz="412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Oxidation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62622" y="513880"/>
            <a:ext cx="7001914" cy="60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4816" spc="-144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Chemical Weathering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37282" y="2541744"/>
            <a:ext cx="9901392" cy="173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69"/>
              </a:lnSpc>
            </a:pPr>
            <a:r>
              <a:rPr lang="en-US" sz="412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Interaction with oxygen and moisture that weakens minerals (like rusting).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641562" y="5713570"/>
            <a:ext cx="4618263" cy="2595464"/>
          </a:xfrm>
          <a:custGeom>
            <a:avLst/>
            <a:gdLst/>
            <a:ahLst/>
            <a:cxnLst/>
            <a:rect l="l" t="t" r="r" b="b"/>
            <a:pathLst>
              <a:path w="4618263" h="2595464">
                <a:moveTo>
                  <a:pt x="0" y="0"/>
                </a:moveTo>
                <a:lnTo>
                  <a:pt x="4618263" y="0"/>
                </a:lnTo>
                <a:lnTo>
                  <a:pt x="4618263" y="2595464"/>
                </a:lnTo>
                <a:lnTo>
                  <a:pt x="0" y="2595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032429" y="5323045"/>
            <a:ext cx="7552615" cy="101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9767" lvl="1" indent="-444884" algn="l">
              <a:lnSpc>
                <a:spcPts val="5769"/>
              </a:lnSpc>
              <a:buAutoNum type="arabicPeriod"/>
            </a:pPr>
            <a:r>
              <a:rPr lang="en-US" sz="412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Hydration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37282" y="6192527"/>
            <a:ext cx="9901392" cy="245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69"/>
              </a:lnSpc>
            </a:pPr>
            <a:r>
              <a:rPr lang="en-US" sz="412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Minerals absorb water directly into their crystal structure, causing swelling and weakening.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795" y="9943256"/>
            <a:ext cx="19094134" cy="2126684"/>
            <a:chOff x="0" y="0"/>
            <a:chExt cx="5028908" cy="56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8908" cy="560114"/>
            </a:xfrm>
            <a:custGeom>
              <a:avLst/>
              <a:gdLst/>
              <a:ahLst/>
              <a:cxnLst/>
              <a:rect l="l" t="t" r="r" b="b"/>
              <a:pathLst>
                <a:path w="5028908" h="560114">
                  <a:moveTo>
                    <a:pt x="0" y="0"/>
                  </a:moveTo>
                  <a:lnTo>
                    <a:pt x="5028908" y="0"/>
                  </a:lnTo>
                  <a:lnTo>
                    <a:pt x="5028908" y="560114"/>
                  </a:lnTo>
                  <a:lnTo>
                    <a:pt x="0" y="560114"/>
                  </a:lnTo>
                  <a:close/>
                </a:path>
              </a:pathLst>
            </a:custGeom>
            <a:solidFill>
              <a:srgbClr val="854C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28908" cy="598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7903693" y="1460339"/>
            <a:ext cx="10384307" cy="8826661"/>
          </a:xfrm>
          <a:custGeom>
            <a:avLst/>
            <a:gdLst/>
            <a:ahLst/>
            <a:cxnLst/>
            <a:rect l="l" t="t" r="r" b="b"/>
            <a:pathLst>
              <a:path w="10384307" h="8826661">
                <a:moveTo>
                  <a:pt x="10384307" y="0"/>
                </a:moveTo>
                <a:lnTo>
                  <a:pt x="0" y="0"/>
                </a:lnTo>
                <a:lnTo>
                  <a:pt x="0" y="8826661"/>
                </a:lnTo>
                <a:lnTo>
                  <a:pt x="10384307" y="8826661"/>
                </a:lnTo>
                <a:lnTo>
                  <a:pt x="103843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67810" y="733834"/>
            <a:ext cx="18280104" cy="599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2"/>
              </a:lnSpc>
            </a:pPr>
            <a:r>
              <a:rPr lang="en-US" sz="8238" spc="-247" dirty="0">
                <a:solidFill>
                  <a:srgbClr val="CC4E00"/>
                </a:solidFill>
                <a:latin typeface="Roca Two"/>
                <a:ea typeface="Roca Two"/>
                <a:cs typeface="Roca Two"/>
                <a:sym typeface="Roca Two"/>
              </a:rPr>
              <a:t>WHEN ROCKS ARE BROKEN DOWN OR WEAKENED BY WEATHERING, WHAT DO YOU THINK HAPPENS TO THE LOOSENED ROCK FRAGMENTS AND SOIL WHEN A FORCE IS APPLIED TO THEM?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795" y="9943256"/>
            <a:ext cx="19094134" cy="2126684"/>
            <a:chOff x="0" y="0"/>
            <a:chExt cx="5028908" cy="56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8908" cy="560114"/>
            </a:xfrm>
            <a:custGeom>
              <a:avLst/>
              <a:gdLst/>
              <a:ahLst/>
              <a:cxnLst/>
              <a:rect l="l" t="t" r="r" b="b"/>
              <a:pathLst>
                <a:path w="5028908" h="560114">
                  <a:moveTo>
                    <a:pt x="0" y="0"/>
                  </a:moveTo>
                  <a:lnTo>
                    <a:pt x="5028908" y="0"/>
                  </a:lnTo>
                  <a:lnTo>
                    <a:pt x="5028908" y="560114"/>
                  </a:lnTo>
                  <a:lnTo>
                    <a:pt x="0" y="560114"/>
                  </a:lnTo>
                  <a:close/>
                </a:path>
              </a:pathLst>
            </a:custGeom>
            <a:solidFill>
              <a:srgbClr val="854C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28908" cy="598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3573" y="4309899"/>
            <a:ext cx="8524289" cy="5633357"/>
            <a:chOff x="0" y="0"/>
            <a:chExt cx="2245080" cy="14836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45080" cy="1483682"/>
            </a:xfrm>
            <a:custGeom>
              <a:avLst/>
              <a:gdLst/>
              <a:ahLst/>
              <a:cxnLst/>
              <a:rect l="l" t="t" r="r" b="b"/>
              <a:pathLst>
                <a:path w="2245080" h="1483682">
                  <a:moveTo>
                    <a:pt x="46319" y="0"/>
                  </a:moveTo>
                  <a:lnTo>
                    <a:pt x="2198761" y="0"/>
                  </a:lnTo>
                  <a:cubicBezTo>
                    <a:pt x="2211046" y="0"/>
                    <a:pt x="2222827" y="4880"/>
                    <a:pt x="2231514" y="13567"/>
                  </a:cubicBezTo>
                  <a:cubicBezTo>
                    <a:pt x="2240200" y="22253"/>
                    <a:pt x="2245080" y="34035"/>
                    <a:pt x="2245080" y="46319"/>
                  </a:cubicBezTo>
                  <a:lnTo>
                    <a:pt x="2245080" y="1437363"/>
                  </a:lnTo>
                  <a:cubicBezTo>
                    <a:pt x="2245080" y="1449648"/>
                    <a:pt x="2240200" y="1461429"/>
                    <a:pt x="2231514" y="1470116"/>
                  </a:cubicBezTo>
                  <a:cubicBezTo>
                    <a:pt x="2222827" y="1478802"/>
                    <a:pt x="2211046" y="1483682"/>
                    <a:pt x="2198761" y="1483682"/>
                  </a:cubicBezTo>
                  <a:lnTo>
                    <a:pt x="46319" y="1483682"/>
                  </a:lnTo>
                  <a:cubicBezTo>
                    <a:pt x="20738" y="1483682"/>
                    <a:pt x="0" y="1462945"/>
                    <a:pt x="0" y="1437363"/>
                  </a:cubicBezTo>
                  <a:lnTo>
                    <a:pt x="0" y="46319"/>
                  </a:lnTo>
                  <a:cubicBezTo>
                    <a:pt x="0" y="34035"/>
                    <a:pt x="4880" y="22253"/>
                    <a:pt x="13567" y="13567"/>
                  </a:cubicBezTo>
                  <a:cubicBezTo>
                    <a:pt x="22253" y="4880"/>
                    <a:pt x="34035" y="0"/>
                    <a:pt x="46319" y="0"/>
                  </a:cubicBezTo>
                  <a:close/>
                </a:path>
              </a:pathLst>
            </a:custGeom>
            <a:solidFill>
              <a:srgbClr val="CC4E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45080" cy="1521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7903693" y="1460339"/>
            <a:ext cx="10384307" cy="8826661"/>
          </a:xfrm>
          <a:custGeom>
            <a:avLst/>
            <a:gdLst/>
            <a:ahLst/>
            <a:cxnLst/>
            <a:rect l="l" t="t" r="r" b="b"/>
            <a:pathLst>
              <a:path w="10384307" h="8826661">
                <a:moveTo>
                  <a:pt x="10384307" y="0"/>
                </a:moveTo>
                <a:lnTo>
                  <a:pt x="0" y="0"/>
                </a:lnTo>
                <a:lnTo>
                  <a:pt x="0" y="8826661"/>
                </a:lnTo>
                <a:lnTo>
                  <a:pt x="10384307" y="8826661"/>
                </a:lnTo>
                <a:lnTo>
                  <a:pt x="103843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63530" y="4374722"/>
            <a:ext cx="8204963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3485" dirty="0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 </a:t>
            </a:r>
            <a:r>
              <a:rPr lang="en-US" sz="3485" dirty="0" err="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DEFINITION:The</a:t>
            </a:r>
            <a:r>
              <a:rPr lang="en-US" sz="3485" dirty="0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 transport of weathered rock fragments and soil by agents like water, wind, ice, and gravity.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3573" y="2297939"/>
            <a:ext cx="8684920" cy="2011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2"/>
              </a:lnSpc>
            </a:pPr>
            <a:r>
              <a:rPr lang="en-US" sz="8238" spc="-247">
                <a:solidFill>
                  <a:srgbClr val="CC4E00"/>
                </a:solidFill>
                <a:latin typeface="Roca Two"/>
                <a:ea typeface="Roca Two"/>
                <a:cs typeface="Roca Two"/>
                <a:sym typeface="Roca Two"/>
              </a:rPr>
              <a:t>WHAT IS EROSION?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2899" y="6534099"/>
            <a:ext cx="8204963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3485" dirty="0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 KEY </a:t>
            </a:r>
            <a:r>
              <a:rPr lang="en-US" sz="3485" dirty="0" err="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MECHANISMS:The</a:t>
            </a:r>
            <a:r>
              <a:rPr lang="en-US" sz="3485" dirty="0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 transport of weathered rock fragments and soil by agents like water, wind, ice, and gravity.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795" y="9943256"/>
            <a:ext cx="19094134" cy="2126684"/>
            <a:chOff x="0" y="0"/>
            <a:chExt cx="5028908" cy="56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8908" cy="560114"/>
            </a:xfrm>
            <a:custGeom>
              <a:avLst/>
              <a:gdLst/>
              <a:ahLst/>
              <a:cxnLst/>
              <a:rect l="l" t="t" r="r" b="b"/>
              <a:pathLst>
                <a:path w="5028908" h="560114">
                  <a:moveTo>
                    <a:pt x="0" y="0"/>
                  </a:moveTo>
                  <a:lnTo>
                    <a:pt x="5028908" y="0"/>
                  </a:lnTo>
                  <a:lnTo>
                    <a:pt x="5028908" y="560114"/>
                  </a:lnTo>
                  <a:lnTo>
                    <a:pt x="0" y="560114"/>
                  </a:lnTo>
                  <a:close/>
                </a:path>
              </a:pathLst>
            </a:custGeom>
            <a:solidFill>
              <a:srgbClr val="854C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28908" cy="598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7903693" y="1460339"/>
            <a:ext cx="10384307" cy="8826661"/>
          </a:xfrm>
          <a:custGeom>
            <a:avLst/>
            <a:gdLst/>
            <a:ahLst/>
            <a:cxnLst/>
            <a:rect l="l" t="t" r="r" b="b"/>
            <a:pathLst>
              <a:path w="10384307" h="8826661">
                <a:moveTo>
                  <a:pt x="10384307" y="0"/>
                </a:moveTo>
                <a:lnTo>
                  <a:pt x="0" y="0"/>
                </a:lnTo>
                <a:lnTo>
                  <a:pt x="0" y="8826661"/>
                </a:lnTo>
                <a:lnTo>
                  <a:pt x="10384307" y="8826661"/>
                </a:lnTo>
                <a:lnTo>
                  <a:pt x="103843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62188" y="3250133"/>
            <a:ext cx="4579952" cy="6174128"/>
          </a:xfrm>
          <a:custGeom>
            <a:avLst/>
            <a:gdLst/>
            <a:ahLst/>
            <a:cxnLst/>
            <a:rect l="l" t="t" r="r" b="b"/>
            <a:pathLst>
              <a:path w="4579952" h="6174128">
                <a:moveTo>
                  <a:pt x="0" y="0"/>
                </a:moveTo>
                <a:lnTo>
                  <a:pt x="4579952" y="0"/>
                </a:lnTo>
                <a:lnTo>
                  <a:pt x="4579952" y="6174128"/>
                </a:lnTo>
                <a:lnTo>
                  <a:pt x="0" y="6174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290296" y="1238250"/>
            <a:ext cx="8684920" cy="201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2"/>
              </a:lnSpc>
            </a:pPr>
            <a:r>
              <a:rPr lang="en-US" sz="8238" spc="-247">
                <a:solidFill>
                  <a:srgbClr val="CC4E00"/>
                </a:solidFill>
                <a:latin typeface="Roca Two"/>
                <a:ea typeface="Roca Two"/>
                <a:cs typeface="Roca Two"/>
                <a:sym typeface="Roca Two"/>
              </a:rPr>
              <a:t>EXAMPLE OF EROSION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795" y="9943256"/>
            <a:ext cx="19094134" cy="2126684"/>
            <a:chOff x="0" y="0"/>
            <a:chExt cx="5028908" cy="560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8908" cy="560114"/>
            </a:xfrm>
            <a:custGeom>
              <a:avLst/>
              <a:gdLst/>
              <a:ahLst/>
              <a:cxnLst/>
              <a:rect l="l" t="t" r="r" b="b"/>
              <a:pathLst>
                <a:path w="5028908" h="560114">
                  <a:moveTo>
                    <a:pt x="0" y="0"/>
                  </a:moveTo>
                  <a:lnTo>
                    <a:pt x="5028908" y="0"/>
                  </a:lnTo>
                  <a:lnTo>
                    <a:pt x="5028908" y="560114"/>
                  </a:lnTo>
                  <a:lnTo>
                    <a:pt x="0" y="560114"/>
                  </a:lnTo>
                  <a:close/>
                </a:path>
              </a:pathLst>
            </a:custGeom>
            <a:solidFill>
              <a:srgbClr val="854C3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28908" cy="598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3573" y="4309899"/>
            <a:ext cx="8524289" cy="5633357"/>
            <a:chOff x="0" y="0"/>
            <a:chExt cx="2245080" cy="14836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45080" cy="1483682"/>
            </a:xfrm>
            <a:custGeom>
              <a:avLst/>
              <a:gdLst/>
              <a:ahLst/>
              <a:cxnLst/>
              <a:rect l="l" t="t" r="r" b="b"/>
              <a:pathLst>
                <a:path w="2245080" h="1483682">
                  <a:moveTo>
                    <a:pt x="46319" y="0"/>
                  </a:moveTo>
                  <a:lnTo>
                    <a:pt x="2198761" y="0"/>
                  </a:lnTo>
                  <a:cubicBezTo>
                    <a:pt x="2211046" y="0"/>
                    <a:pt x="2222827" y="4880"/>
                    <a:pt x="2231514" y="13567"/>
                  </a:cubicBezTo>
                  <a:cubicBezTo>
                    <a:pt x="2240200" y="22253"/>
                    <a:pt x="2245080" y="34035"/>
                    <a:pt x="2245080" y="46319"/>
                  </a:cubicBezTo>
                  <a:lnTo>
                    <a:pt x="2245080" y="1437363"/>
                  </a:lnTo>
                  <a:cubicBezTo>
                    <a:pt x="2245080" y="1449648"/>
                    <a:pt x="2240200" y="1461429"/>
                    <a:pt x="2231514" y="1470116"/>
                  </a:cubicBezTo>
                  <a:cubicBezTo>
                    <a:pt x="2222827" y="1478802"/>
                    <a:pt x="2211046" y="1483682"/>
                    <a:pt x="2198761" y="1483682"/>
                  </a:cubicBezTo>
                  <a:lnTo>
                    <a:pt x="46319" y="1483682"/>
                  </a:lnTo>
                  <a:cubicBezTo>
                    <a:pt x="20738" y="1483682"/>
                    <a:pt x="0" y="1462945"/>
                    <a:pt x="0" y="1437363"/>
                  </a:cubicBezTo>
                  <a:lnTo>
                    <a:pt x="0" y="46319"/>
                  </a:lnTo>
                  <a:cubicBezTo>
                    <a:pt x="0" y="34035"/>
                    <a:pt x="4880" y="22253"/>
                    <a:pt x="13567" y="13567"/>
                  </a:cubicBezTo>
                  <a:cubicBezTo>
                    <a:pt x="22253" y="4880"/>
                    <a:pt x="34035" y="0"/>
                    <a:pt x="46319" y="0"/>
                  </a:cubicBezTo>
                  <a:close/>
                </a:path>
              </a:pathLst>
            </a:custGeom>
            <a:solidFill>
              <a:srgbClr val="CC4E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45080" cy="1521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868492" y="5067996"/>
            <a:ext cx="7944062" cy="4117163"/>
          </a:xfrm>
          <a:custGeom>
            <a:avLst/>
            <a:gdLst/>
            <a:ahLst/>
            <a:cxnLst/>
            <a:rect l="l" t="t" r="r" b="b"/>
            <a:pathLst>
              <a:path w="7944062" h="4117163">
                <a:moveTo>
                  <a:pt x="0" y="0"/>
                </a:moveTo>
                <a:lnTo>
                  <a:pt x="7944062" y="0"/>
                </a:lnTo>
                <a:lnTo>
                  <a:pt x="7944062" y="4117163"/>
                </a:lnTo>
                <a:lnTo>
                  <a:pt x="0" y="4117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63530" y="4374722"/>
            <a:ext cx="8204963" cy="209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3485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The process where moving agents (water, wind, ice) slow down and drop their sediment load.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3573" y="2297939"/>
            <a:ext cx="8684920" cy="201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2"/>
              </a:lnSpc>
            </a:pPr>
            <a:r>
              <a:rPr lang="en-US" sz="8238" spc="-247">
                <a:solidFill>
                  <a:srgbClr val="CC4E00"/>
                </a:solidFill>
                <a:latin typeface="Roca Two"/>
                <a:ea typeface="Roca Two"/>
                <a:cs typeface="Roca Two"/>
                <a:sym typeface="Roca Two"/>
              </a:rPr>
              <a:t>WHAT IS DEPOSITION?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2899" y="6534099"/>
            <a:ext cx="8204963" cy="209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3485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Results: Creates new landforms such as river deltas, sand dunes, beaches, and alluvial fans.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52705" y="550959"/>
            <a:ext cx="3490969" cy="1479298"/>
          </a:xfrm>
          <a:custGeom>
            <a:avLst/>
            <a:gdLst/>
            <a:ahLst/>
            <a:cxnLst/>
            <a:rect l="l" t="t" r="r" b="b"/>
            <a:pathLst>
              <a:path w="3490969" h="1479298">
                <a:moveTo>
                  <a:pt x="0" y="0"/>
                </a:moveTo>
                <a:lnTo>
                  <a:pt x="3490969" y="0"/>
                </a:lnTo>
                <a:lnTo>
                  <a:pt x="3490969" y="1479298"/>
                </a:lnTo>
                <a:lnTo>
                  <a:pt x="0" y="1479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14350" y="9392480"/>
            <a:ext cx="19094134" cy="2126684"/>
            <a:chOff x="0" y="0"/>
            <a:chExt cx="5028908" cy="5601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28908" cy="560114"/>
            </a:xfrm>
            <a:custGeom>
              <a:avLst/>
              <a:gdLst/>
              <a:ahLst/>
              <a:cxnLst/>
              <a:rect l="l" t="t" r="r" b="b"/>
              <a:pathLst>
                <a:path w="5028908" h="560114">
                  <a:moveTo>
                    <a:pt x="0" y="0"/>
                  </a:moveTo>
                  <a:lnTo>
                    <a:pt x="5028908" y="0"/>
                  </a:lnTo>
                  <a:lnTo>
                    <a:pt x="5028908" y="560114"/>
                  </a:lnTo>
                  <a:lnTo>
                    <a:pt x="0" y="560114"/>
                  </a:lnTo>
                  <a:close/>
                </a:path>
              </a:pathLst>
            </a:custGeom>
            <a:solidFill>
              <a:srgbClr val="854C3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28908" cy="598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923264" y="14306"/>
            <a:ext cx="10364736" cy="10287000"/>
          </a:xfrm>
          <a:custGeom>
            <a:avLst/>
            <a:gdLst/>
            <a:ahLst/>
            <a:cxnLst/>
            <a:rect l="l" t="t" r="r" b="b"/>
            <a:pathLst>
              <a:path w="10364736" h="10287000">
                <a:moveTo>
                  <a:pt x="0" y="0"/>
                </a:moveTo>
                <a:lnTo>
                  <a:pt x="10364736" y="0"/>
                </a:lnTo>
                <a:lnTo>
                  <a:pt x="103647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70744" y="3343199"/>
            <a:ext cx="11614242" cy="2979498"/>
            <a:chOff x="0" y="0"/>
            <a:chExt cx="3058895" cy="7847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58895" cy="784724"/>
            </a:xfrm>
            <a:custGeom>
              <a:avLst/>
              <a:gdLst/>
              <a:ahLst/>
              <a:cxnLst/>
              <a:rect l="l" t="t" r="r" b="b"/>
              <a:pathLst>
                <a:path w="3058895" h="784724">
                  <a:moveTo>
                    <a:pt x="33996" y="0"/>
                  </a:moveTo>
                  <a:lnTo>
                    <a:pt x="3024899" y="0"/>
                  </a:lnTo>
                  <a:cubicBezTo>
                    <a:pt x="3033915" y="0"/>
                    <a:pt x="3042562" y="3582"/>
                    <a:pt x="3048938" y="9957"/>
                  </a:cubicBezTo>
                  <a:cubicBezTo>
                    <a:pt x="3055313" y="16333"/>
                    <a:pt x="3058895" y="24980"/>
                    <a:pt x="3058895" y="33996"/>
                  </a:cubicBezTo>
                  <a:lnTo>
                    <a:pt x="3058895" y="750728"/>
                  </a:lnTo>
                  <a:cubicBezTo>
                    <a:pt x="3058895" y="769503"/>
                    <a:pt x="3043674" y="784724"/>
                    <a:pt x="3024899" y="784724"/>
                  </a:cubicBezTo>
                  <a:lnTo>
                    <a:pt x="33996" y="784724"/>
                  </a:lnTo>
                  <a:cubicBezTo>
                    <a:pt x="24980" y="784724"/>
                    <a:pt x="16333" y="781142"/>
                    <a:pt x="9957" y="774767"/>
                  </a:cubicBezTo>
                  <a:cubicBezTo>
                    <a:pt x="3582" y="768391"/>
                    <a:pt x="0" y="759744"/>
                    <a:pt x="0" y="750728"/>
                  </a:cubicBezTo>
                  <a:lnTo>
                    <a:pt x="0" y="33996"/>
                  </a:lnTo>
                  <a:cubicBezTo>
                    <a:pt x="0" y="15221"/>
                    <a:pt x="15221" y="0"/>
                    <a:pt x="33996" y="0"/>
                  </a:cubicBezTo>
                  <a:close/>
                </a:path>
              </a:pathLst>
            </a:custGeom>
            <a:solidFill>
              <a:srgbClr val="CC4E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058895" cy="82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6143940"/>
            <a:ext cx="5178825" cy="4143060"/>
          </a:xfrm>
          <a:custGeom>
            <a:avLst/>
            <a:gdLst/>
            <a:ahLst/>
            <a:cxnLst/>
            <a:rect l="l" t="t" r="r" b="b"/>
            <a:pathLst>
              <a:path w="5178825" h="4143060">
                <a:moveTo>
                  <a:pt x="0" y="0"/>
                </a:moveTo>
                <a:lnTo>
                  <a:pt x="5178825" y="0"/>
                </a:lnTo>
                <a:lnTo>
                  <a:pt x="5178825" y="4143060"/>
                </a:lnTo>
                <a:lnTo>
                  <a:pt x="0" y="41430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910916" y="3344287"/>
            <a:ext cx="11194716" cy="269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3216" dirty="0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Considering that weathering destroys steel and concrete buildings, erosion erodes soil and often covers </a:t>
            </a:r>
            <a:r>
              <a:rPr lang="en-US" sz="3216" dirty="0" err="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infrastructule</a:t>
            </a:r>
            <a:r>
              <a:rPr lang="en-US" sz="3216" dirty="0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 while deposition disperses water in an area. Are these geological </a:t>
            </a:r>
            <a:r>
              <a:rPr lang="en-US" sz="3216" dirty="0" err="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processis</a:t>
            </a:r>
            <a:r>
              <a:rPr lang="en-US" sz="3216" dirty="0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 still </a:t>
            </a:r>
            <a:r>
              <a:rPr lang="en-US" sz="3216" dirty="0" err="1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benefician</a:t>
            </a:r>
            <a:r>
              <a:rPr lang="en-US" sz="3216" dirty="0">
                <a:solidFill>
                  <a:srgbClr val="FFFFFF"/>
                </a:solidFill>
                <a:latin typeface="Cakerolli"/>
                <a:ea typeface="Cakerolli"/>
                <a:cs typeface="Cakerolli"/>
                <a:sym typeface="Cakerolli"/>
              </a:rPr>
              <a:t> to us humans? Defend your answer using examples.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70744" y="2230282"/>
            <a:ext cx="9734451" cy="100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7914" b="1" spc="-237">
                <a:solidFill>
                  <a:srgbClr val="CC4E00"/>
                </a:solidFill>
                <a:latin typeface="Roca Two Bold"/>
                <a:ea typeface="Roca Two Bold"/>
                <a:cs typeface="Roca Two Bold"/>
                <a:sym typeface="Roca Two Bold"/>
              </a:rPr>
              <a:t>EXIT TICKET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392</Words>
  <Application>Microsoft Office PowerPoint</Application>
  <PresentationFormat>Custom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Cakerolli Bold</vt:lpstr>
      <vt:lpstr>Roca Two Bold</vt:lpstr>
      <vt:lpstr>Cakerolli</vt:lpstr>
      <vt:lpstr>Roca Two</vt:lpstr>
      <vt:lpstr>Roca Two Heavy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cp:lastModifiedBy>SEAN GABRIEL</cp:lastModifiedBy>
  <cp:revision>3</cp:revision>
  <dcterms:created xsi:type="dcterms:W3CDTF">2006-08-16T00:00:00Z</dcterms:created>
  <dcterms:modified xsi:type="dcterms:W3CDTF">2026-10-11T13:11:43Z</dcterms:modified>
  <dc:identifier>DAHXq8Psf4c</dc:identifier>
</cp:coreProperties>
</file>